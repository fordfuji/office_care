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65" r:id="rId3"/>
    <p:sldId id="266" r:id="rId4"/>
    <p:sldId id="267" r:id="rId5"/>
    <p:sldId id="264" r:id="rId6"/>
    <p:sldId id="280" r:id="rId7"/>
    <p:sldId id="270" r:id="rId8"/>
    <p:sldId id="271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CD5ECF-FC15-4600-A877-06A0E5B2F482}" v="88" dt="2023-02-23T02:58:12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 showGuides="1">
      <p:cViewPr varScale="1">
        <p:scale>
          <a:sx n="86" d="100"/>
          <a:sy n="86" d="100"/>
        </p:scale>
        <p:origin x="468" y="40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FA6774B-2DF2-0404-4DE8-8763477F2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0C50AB0B-4B33-F36E-2933-4C9A9B935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2049899-1F4D-0AD8-BA98-237CAF960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9D74D1A-8CFE-6537-A9E8-739C423C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5CE7188-B704-66F2-6BF9-79757756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37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31A3F60-6CF0-FB32-BF8F-C6B4BFF0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FF6B90E4-B0A7-9CBB-EBE3-443125509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CF69AF3-96A2-6F7D-3716-985083E6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94B0661-9FDE-39B5-6CC1-F76D7A107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4C755D4-B563-16F9-2F8A-F6E4CE55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9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9330E58-AA59-6FA6-E58F-5619F5C0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9F24D9AD-B7D1-8AC4-2F2E-B949CC89B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156C4CB-453A-00A3-B18E-EFA94A52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1478DC0A-445C-B07F-9B16-243C695E3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3D46F42-0570-54EC-6996-E407DFCB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12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4878AE6-F366-10FC-D04E-EA27F7355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C45B0FAA-9A73-942C-C965-EAFD5E49F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C2FD5204-4310-2EC4-2282-BD96A19E2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2DEF615D-5003-8F54-2137-9BE542F5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32F2D988-1342-CF2A-F98E-1F7233C3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839847A-8AD2-8F33-3DD7-E3DBB04C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6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6594661-9D0E-BF89-B729-05EC9D78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93994BE-88F9-2953-A4D0-2850E4897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631406A0-33E6-27CB-6058-0E68C15A9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91CBF07B-883F-D670-0F4D-62BAE46865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6D89A2F1-7A29-8712-3291-A274B89F7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A5D9E6FA-702F-CFD3-D87C-B2DC2A7F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DABC30D9-3F44-AD35-2D5B-5B06FEB99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A558C805-DD5C-EAF5-B116-149DE0A3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8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0F6CA17-EBA9-741A-3BB4-5C2490722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AABD81E6-A8DC-F99E-C79A-A81229AE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66FCB076-DB55-F18B-D92D-D681BD4E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BB84CA98-05E9-3C2E-BD78-3D8802F8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82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F8C00A8E-57B9-37A2-E09F-09E5CE5D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6C4FACEA-195E-5927-9677-67424467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C5AB246-154E-F524-8F81-25A03E83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0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281F74A-2B17-3098-2047-0E31C576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E1702CB-DADC-32CA-FDEF-24E98E3CF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EADC08F0-019A-303D-328B-091C18E0C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7A26F5E-A414-EFB3-7356-A6DBEF3E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122D45BB-2244-BCAC-1385-A08DE9BA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0E12D2B5-F50A-BDA3-16B3-8A81CEDB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4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30F69DD-1C87-23AF-4EB5-7303ED7C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0040B034-4BCD-6C45-1612-BD7381561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98F33203-3861-0F87-A540-F8142000F4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4D235785-EACF-35B5-1164-771805C3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50AD004D-1E0D-EBFB-5EF7-CCDB5BCC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FBD97813-147D-9CD3-FCDA-5B2F134C1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3D90DB4-22D7-9D78-4A08-28D6EC7B1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D88FE730-CFA7-16EC-7435-26DB81AC0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4D656A93-6607-3825-F00C-9124D35D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8F4AD5F-7271-077F-3C13-139192F7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8547F99-BD30-6A77-A75D-72999C33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8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57B7A612-7235-D7B3-073C-284DEB154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452ACD71-9E78-A0DA-523C-A55759C94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A22CF22E-2BBC-264B-AC9C-6825640D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B9034BA-A570-EFEF-A1AE-A08D1AC3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E8AB0F3-BEAD-2F55-2179-3E2113E98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60C44814-87EC-2734-15B9-2D25926A1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CB4A74BD-7179-F040-2E4B-90DC1EC25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C0918514-E5CA-B1F7-EA0B-91F9E0F3C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FCB6E-00E2-4E25-9205-3D0DF49ABFAD}" type="datetimeFigureOut">
              <a:rPr lang="en-US" smtClean="0"/>
              <a:t>2/23/2023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9634B22-E29D-DD66-749F-B11B743DD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F7766B5-9CA9-1F26-1209-3FBC74E7D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7CC9F-4465-42D1-B10F-4721677957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4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 descr="office care OL-02">
            <a:extLst>
              <a:ext uri="{FF2B5EF4-FFF2-40B4-BE49-F238E27FC236}">
                <a16:creationId xmlns:a16="http://schemas.microsoft.com/office/drawing/2014/main" id="{B75789B6-52F5-C64F-CC85-C17C95BF0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025" y="188595"/>
            <a:ext cx="2122805" cy="490220"/>
          </a:xfrm>
          <a:prstGeom prst="rect">
            <a:avLst/>
          </a:prstGeom>
        </p:spPr>
      </p:pic>
      <p:sp>
        <p:nvSpPr>
          <p:cNvPr id="3" name="Rectangles 21">
            <a:extLst>
              <a:ext uri="{FF2B5EF4-FFF2-40B4-BE49-F238E27FC236}">
                <a16:creationId xmlns:a16="http://schemas.microsoft.com/office/drawing/2014/main" id="{B5D3F52C-1313-CB96-9BF0-DEDA94842D9B}"/>
              </a:ext>
            </a:extLst>
          </p:cNvPr>
          <p:cNvSpPr/>
          <p:nvPr/>
        </p:nvSpPr>
        <p:spPr>
          <a:xfrm>
            <a:off x="0" y="0"/>
            <a:ext cx="183515" cy="6878955"/>
          </a:xfrm>
          <a:prstGeom prst="rect">
            <a:avLst/>
          </a:prstGeom>
          <a:solidFill>
            <a:srgbClr val="0067BC"/>
          </a:solidFill>
          <a:ln>
            <a:solidFill>
              <a:srgbClr val="0067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22">
            <a:extLst>
              <a:ext uri="{FF2B5EF4-FFF2-40B4-BE49-F238E27FC236}">
                <a16:creationId xmlns:a16="http://schemas.microsoft.com/office/drawing/2014/main" id="{D0493686-8102-31CB-47A7-AEA0B1562409}"/>
              </a:ext>
            </a:extLst>
          </p:cNvPr>
          <p:cNvCxnSpPr/>
          <p:nvPr/>
        </p:nvCxnSpPr>
        <p:spPr>
          <a:xfrm>
            <a:off x="864870" y="6095365"/>
            <a:ext cx="10462895" cy="0"/>
          </a:xfrm>
          <a:prstGeom prst="line">
            <a:avLst/>
          </a:prstGeom>
          <a:ln w="28575" cmpd="sng">
            <a:solidFill>
              <a:srgbClr val="0067B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26">
            <a:extLst>
              <a:ext uri="{FF2B5EF4-FFF2-40B4-BE49-F238E27FC236}">
                <a16:creationId xmlns:a16="http://schemas.microsoft.com/office/drawing/2014/main" id="{ECD2844D-07DB-110A-DB8B-23B2DDC19F45}"/>
              </a:ext>
            </a:extLst>
          </p:cNvPr>
          <p:cNvSpPr txBox="1"/>
          <p:nvPr/>
        </p:nvSpPr>
        <p:spPr>
          <a:xfrm>
            <a:off x="6384237" y="2255710"/>
            <a:ext cx="5444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600" b="1" dirty="0">
                <a:solidFill>
                  <a:srgbClr val="0067BC"/>
                </a:solidFill>
                <a:latin typeface="Prompt SemiBold" panose="00000700000000000000" pitchFamily="2" charset="-34"/>
                <a:cs typeface="Prompt SemiBold" panose="00000700000000000000" pitchFamily="2" charset="-34"/>
              </a:rPr>
              <a:t>แก้ไขเว็บไซต์เพิ่มเติม </a:t>
            </a:r>
            <a:r>
              <a:rPr lang="en-US" sz="3600" dirty="0">
                <a:solidFill>
                  <a:srgbClr val="FF7900"/>
                </a:solidFill>
                <a:latin typeface="Prompt SemiBold" panose="00000700000000000000" pitchFamily="2" charset="-34"/>
                <a:cs typeface="Prompt SemiBold" panose="00000700000000000000" pitchFamily="2" charset="-34"/>
              </a:rPr>
              <a:t>Final</a:t>
            </a:r>
            <a:endParaRPr lang="th-TH" sz="3600" dirty="0">
              <a:solidFill>
                <a:srgbClr val="FF7900"/>
              </a:solidFill>
              <a:latin typeface="Prompt SemiBold" panose="00000700000000000000" pitchFamily="2" charset="-34"/>
              <a:cs typeface="Prompt SemiBold" panose="00000700000000000000" pitchFamily="2" charset="-34"/>
            </a:endParaRPr>
          </a:p>
        </p:txBody>
      </p:sp>
      <p:cxnSp>
        <p:nvCxnSpPr>
          <p:cNvPr id="6" name="Straight Connector 2">
            <a:extLst>
              <a:ext uri="{FF2B5EF4-FFF2-40B4-BE49-F238E27FC236}">
                <a16:creationId xmlns:a16="http://schemas.microsoft.com/office/drawing/2014/main" id="{A719D74A-4539-5366-B0EE-509E45103B0E}"/>
              </a:ext>
            </a:extLst>
          </p:cNvPr>
          <p:cNvCxnSpPr/>
          <p:nvPr/>
        </p:nvCxnSpPr>
        <p:spPr>
          <a:xfrm>
            <a:off x="6427781" y="2902041"/>
            <a:ext cx="5167630" cy="3810"/>
          </a:xfrm>
          <a:prstGeom prst="line">
            <a:avLst/>
          </a:prstGeom>
          <a:ln w="28575" cmpd="sng">
            <a:solidFill>
              <a:srgbClr val="0067B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รูปภาพ 7">
            <a:extLst>
              <a:ext uri="{FF2B5EF4-FFF2-40B4-BE49-F238E27FC236}">
                <a16:creationId xmlns:a16="http://schemas.microsoft.com/office/drawing/2014/main" id="{5C0A7B9E-71A9-9AB8-A05F-4A32B589F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91" y="1046481"/>
            <a:ext cx="5844869" cy="32877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8426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AF14A080-E79E-E494-284B-78C406012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3675382"/>
            <a:ext cx="5222239" cy="2937508"/>
          </a:xfrm>
          <a:prstGeom prst="rect">
            <a:avLst/>
          </a:prstGeom>
        </p:spPr>
      </p:pic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DC26454D-CD30-403D-851D-B12194A83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20" y="300990"/>
            <a:ext cx="5303521" cy="2983231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04389289-C64E-C691-1D9F-655EC5D023B1}"/>
              </a:ext>
            </a:extLst>
          </p:cNvPr>
          <p:cNvSpPr txBox="1"/>
          <p:nvPr/>
        </p:nvSpPr>
        <p:spPr>
          <a:xfrm>
            <a:off x="6268720" y="1005840"/>
            <a:ext cx="7782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>
                <a:solidFill>
                  <a:srgbClr val="FF0000"/>
                </a:solidFill>
              </a:rPr>
              <a:t>ตัวอย่าง  เวลาใส่ </a:t>
            </a:r>
            <a:r>
              <a:rPr lang="en-US" sz="2000" dirty="0" err="1">
                <a:solidFill>
                  <a:srgbClr val="FF0000"/>
                </a:solidFill>
              </a:rPr>
              <a:t>gmail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th-TH" sz="2000" dirty="0">
                <a:solidFill>
                  <a:srgbClr val="FF0000"/>
                </a:solidFill>
              </a:rPr>
              <a:t> ไม่ตรงหรือ </a:t>
            </a:r>
            <a:r>
              <a:rPr lang="en-US" sz="2000" dirty="0" err="1">
                <a:solidFill>
                  <a:srgbClr val="FF0000"/>
                </a:solidFill>
              </a:rPr>
              <a:t>gmail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th-TH" sz="2000" dirty="0">
                <a:solidFill>
                  <a:srgbClr val="FF0000"/>
                </a:solidFill>
              </a:rPr>
              <a:t>ไม่มีในระบบเรา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0ECFE12C-D3AB-7041-6289-7BA19BCB51AE}"/>
              </a:ext>
            </a:extLst>
          </p:cNvPr>
          <p:cNvSpPr txBox="1"/>
          <p:nvPr/>
        </p:nvSpPr>
        <p:spPr>
          <a:xfrm>
            <a:off x="6268720" y="3820697"/>
            <a:ext cx="7782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>
                <a:solidFill>
                  <a:srgbClr val="FF0000"/>
                </a:solidFill>
              </a:rPr>
              <a:t>ปรับรูปแบบในส่วนการแจ้งเตือน</a:t>
            </a:r>
          </a:p>
          <a:p>
            <a:endParaRPr lang="th-TH" sz="2000" dirty="0">
              <a:solidFill>
                <a:srgbClr val="FF0000"/>
              </a:solidFill>
            </a:endParaRPr>
          </a:p>
          <a:p>
            <a:r>
              <a:rPr lang="th-TH" sz="2000" dirty="0">
                <a:solidFill>
                  <a:srgbClr val="FF0000"/>
                </a:solidFill>
              </a:rPr>
              <a:t>ให้มีแค่สีแดงแจ้งเตือนว่าเมลนี้ไม่มีในระบบ ในช่องใส่ </a:t>
            </a:r>
            <a:r>
              <a:rPr lang="en-US" sz="2000" dirty="0">
                <a:solidFill>
                  <a:srgbClr val="FF0000"/>
                </a:solidFill>
              </a:rPr>
              <a:t>Gmail </a:t>
            </a:r>
            <a:r>
              <a:rPr lang="th-TH" sz="2000" dirty="0">
                <a:solidFill>
                  <a:srgbClr val="FF0000"/>
                </a:solidFill>
              </a:rPr>
              <a:t>ก็พอ</a:t>
            </a:r>
          </a:p>
          <a:p>
            <a:r>
              <a:rPr lang="th-TH" sz="2000" dirty="0">
                <a:solidFill>
                  <a:srgbClr val="FF0000"/>
                </a:solidFill>
              </a:rPr>
              <a:t>ตามตัวอย่าง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69F23717-96C7-6520-1DF8-AA628A8DEEDB}"/>
              </a:ext>
            </a:extLst>
          </p:cNvPr>
          <p:cNvSpPr/>
          <p:nvPr/>
        </p:nvSpPr>
        <p:spPr>
          <a:xfrm>
            <a:off x="2286000" y="1005840"/>
            <a:ext cx="1676400" cy="1158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A9258FCD-A99C-BF54-3AA1-DED171C080AD}"/>
              </a:ext>
            </a:extLst>
          </p:cNvPr>
          <p:cNvSpPr txBox="1"/>
          <p:nvPr/>
        </p:nvSpPr>
        <p:spPr>
          <a:xfrm>
            <a:off x="8543926" y="139702"/>
            <a:ext cx="352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u="sng" dirty="0">
                <a:latin typeface="Prompt Medium" panose="00000600000000000000" pitchFamily="2" charset="-34"/>
                <a:cs typeface="Prompt Medium" panose="00000600000000000000" pitchFamily="2" charset="-34"/>
              </a:rPr>
              <a:t>หน้าการยืนยันลืมรหัสผ่าน</a:t>
            </a:r>
            <a:endParaRPr lang="en-US" sz="2400" b="1" u="sng" dirty="0">
              <a:latin typeface="Prompt Medium" panose="00000600000000000000" pitchFamily="2" charset="-34"/>
              <a:cs typeface="Prompt Medium" panose="00000600000000000000" pitchFamily="2" charset="-34"/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75C50130-EADB-31BD-7027-D627F901D161}"/>
              </a:ext>
            </a:extLst>
          </p:cNvPr>
          <p:cNvSpPr txBox="1"/>
          <p:nvPr/>
        </p:nvSpPr>
        <p:spPr>
          <a:xfrm>
            <a:off x="11615057" y="6396335"/>
            <a:ext cx="576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Prompt Medium" panose="00000600000000000000" pitchFamily="2" charset="-34"/>
                <a:cs typeface="Prompt Medium" panose="00000600000000000000" pitchFamily="2" charset="-34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59090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4B1C8588-004A-CB8D-D3AC-B5365E89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21" y="230438"/>
            <a:ext cx="3720519" cy="4653492"/>
          </a:xfrm>
          <a:prstGeom prst="rect">
            <a:avLst/>
          </a:prstGeom>
        </p:spPr>
      </p:pic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A0BD5718-979E-3F7B-91FC-71B47F7DA8F3}"/>
              </a:ext>
            </a:extLst>
          </p:cNvPr>
          <p:cNvSpPr/>
          <p:nvPr/>
        </p:nvSpPr>
        <p:spPr>
          <a:xfrm>
            <a:off x="3576320" y="230438"/>
            <a:ext cx="528320" cy="6026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CE77F914-72F2-70C0-1DFA-A330A05C420F}"/>
              </a:ext>
            </a:extLst>
          </p:cNvPr>
          <p:cNvSpPr txBox="1"/>
          <p:nvPr/>
        </p:nvSpPr>
        <p:spPr>
          <a:xfrm>
            <a:off x="4594862" y="1017554"/>
            <a:ext cx="77825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dirty="0">
                <a:solidFill>
                  <a:srgbClr val="FF0000"/>
                </a:solidFill>
              </a:rPr>
              <a:t>รายการโปรดยังใช้ไม่ได้ ไม่สามารถคลิกได้</a:t>
            </a:r>
          </a:p>
          <a:p>
            <a:r>
              <a:rPr lang="th-TH" sz="3200" dirty="0">
                <a:solidFill>
                  <a:srgbClr val="FF0000"/>
                </a:solidFill>
              </a:rPr>
              <a:t>เปลี่ยนสีหัวใจให้เป็นสีน้ำเงินสีแบรนด์โลโก้เวลาเลื่อนเมาส์ผ่านหรือคลิก</a:t>
            </a:r>
          </a:p>
          <a:p>
            <a:endParaRPr lang="th-TH" sz="3200" dirty="0">
              <a:solidFill>
                <a:srgbClr val="FF0000"/>
              </a:solidFill>
            </a:endParaRPr>
          </a:p>
          <a:p>
            <a:r>
              <a:rPr lang="en-US" sz="3200" dirty="0">
                <a:solidFill>
                  <a:srgbClr val="FF0000"/>
                </a:solidFill>
              </a:rPr>
              <a:t>**</a:t>
            </a:r>
            <a:r>
              <a:rPr lang="th-TH" sz="3200" dirty="0">
                <a:solidFill>
                  <a:srgbClr val="FF0000"/>
                </a:solidFill>
              </a:rPr>
              <a:t>รายการโปรดจะสามรถใช้ได้ต้องล็อกอินก่อน</a:t>
            </a:r>
          </a:p>
          <a:p>
            <a:r>
              <a:rPr lang="th-TH" sz="3200" dirty="0">
                <a:solidFill>
                  <a:srgbClr val="FF0000"/>
                </a:solidFill>
              </a:rPr>
              <a:t>ถ้าคนที่เข้ามาดูยังไม่เป็นสมาชิกบังคับให้ลงทะเบียนละเข้าสู่ระบบก่อน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E020C209-ED92-7377-1EAA-F20BC1794E7E}"/>
              </a:ext>
            </a:extLst>
          </p:cNvPr>
          <p:cNvSpPr txBox="1"/>
          <p:nvPr/>
        </p:nvSpPr>
        <p:spPr>
          <a:xfrm>
            <a:off x="8989378" y="139702"/>
            <a:ext cx="3078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u="sng" dirty="0">
                <a:latin typeface="Prompt Medium" panose="00000600000000000000" pitchFamily="2" charset="-34"/>
                <a:cs typeface="Prompt Medium" panose="00000600000000000000" pitchFamily="2" charset="-34"/>
              </a:rPr>
              <a:t>รายการโปรด</a:t>
            </a:r>
            <a:endParaRPr lang="en-US" sz="2400" b="1" u="sng" dirty="0">
              <a:latin typeface="Prompt Medium" panose="00000600000000000000" pitchFamily="2" charset="-34"/>
              <a:cs typeface="Prompt Medium" panose="00000600000000000000" pitchFamily="2" charset="-34"/>
            </a:endParaRPr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E09DBF40-96A7-2D25-D228-E0FC74D39739}"/>
              </a:ext>
            </a:extLst>
          </p:cNvPr>
          <p:cNvSpPr txBox="1"/>
          <p:nvPr/>
        </p:nvSpPr>
        <p:spPr>
          <a:xfrm>
            <a:off x="11615057" y="6396335"/>
            <a:ext cx="576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Prompt Medium" panose="00000600000000000000" pitchFamily="2" charset="-34"/>
                <a:cs typeface="Prompt Medium" panose="00000600000000000000" pitchFamily="2" charset="-34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19626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82ED6F3F-435B-103E-A06B-41AD73741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1483360"/>
            <a:ext cx="8428281" cy="4740907"/>
          </a:xfrm>
          <a:prstGeom prst="rect">
            <a:avLst/>
          </a:prstGeom>
        </p:spPr>
      </p:pic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D3C767EC-394B-BD2E-56D6-FE864D8DDD56}"/>
              </a:ext>
            </a:extLst>
          </p:cNvPr>
          <p:cNvSpPr txBox="1"/>
          <p:nvPr/>
        </p:nvSpPr>
        <p:spPr>
          <a:xfrm>
            <a:off x="497840" y="396182"/>
            <a:ext cx="7782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>
                <a:solidFill>
                  <a:srgbClr val="FF0000"/>
                </a:solidFill>
              </a:rPr>
              <a:t>แก้ไขในส่วนการกรอง ยังไม่ตรงตามหมวด</a:t>
            </a:r>
          </a:p>
          <a:p>
            <a:r>
              <a:rPr lang="th-TH" sz="2000" dirty="0">
                <a:solidFill>
                  <a:srgbClr val="FF0000"/>
                </a:solidFill>
              </a:rPr>
              <a:t>ไม่สามารถกลับไปหน้าเดิมได้ ในระหว่างคลิกตัวกรอง 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264C989-96F0-8390-F990-37AFA57EC271}"/>
              </a:ext>
            </a:extLst>
          </p:cNvPr>
          <p:cNvSpPr txBox="1"/>
          <p:nvPr/>
        </p:nvSpPr>
        <p:spPr>
          <a:xfrm>
            <a:off x="10551479" y="165349"/>
            <a:ext cx="1507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u="sng" dirty="0">
                <a:latin typeface="Prompt Medium" panose="00000600000000000000" pitchFamily="2" charset="-34"/>
                <a:cs typeface="Prompt Medium" panose="00000600000000000000" pitchFamily="2" charset="-34"/>
              </a:rPr>
              <a:t>ตัวกรอง</a:t>
            </a:r>
            <a:endParaRPr lang="en-US" sz="2400" b="1" u="sng" dirty="0">
              <a:latin typeface="Prompt Medium" panose="00000600000000000000" pitchFamily="2" charset="-34"/>
              <a:cs typeface="Prompt Medium" panose="00000600000000000000" pitchFamily="2" charset="-34"/>
            </a:endParaRPr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E186CE8-13A7-9276-448A-BDA52997E6CE}"/>
              </a:ext>
            </a:extLst>
          </p:cNvPr>
          <p:cNvSpPr txBox="1"/>
          <p:nvPr/>
        </p:nvSpPr>
        <p:spPr>
          <a:xfrm>
            <a:off x="11615057" y="6396335"/>
            <a:ext cx="576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Prompt Medium" panose="00000600000000000000" pitchFamily="2" charset="-34"/>
                <a:cs typeface="Prompt Medium" panose="00000600000000000000" pitchFamily="2" charset="-34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88760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F9472E1E-0438-CEF4-F489-2CFA8C37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036320"/>
            <a:ext cx="8564880" cy="4817744"/>
          </a:xfrm>
          <a:prstGeom prst="rect">
            <a:avLst/>
          </a:prstGeom>
        </p:spPr>
      </p:pic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28BF3F6F-F09D-7955-80BC-3D945071A00F}"/>
              </a:ext>
            </a:extLst>
          </p:cNvPr>
          <p:cNvSpPr/>
          <p:nvPr/>
        </p:nvSpPr>
        <p:spPr>
          <a:xfrm>
            <a:off x="934720" y="2082800"/>
            <a:ext cx="1940560" cy="3423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ลูกศรเชื่อมต่อแบบตรง 7">
            <a:extLst>
              <a:ext uri="{FF2B5EF4-FFF2-40B4-BE49-F238E27FC236}">
                <a16:creationId xmlns:a16="http://schemas.microsoft.com/office/drawing/2014/main" id="{22DD29B3-2977-0788-B99A-B85EC8F7ECB4}"/>
              </a:ext>
            </a:extLst>
          </p:cNvPr>
          <p:cNvCxnSpPr>
            <a:cxnSpLocks/>
          </p:cNvCxnSpPr>
          <p:nvPr/>
        </p:nvCxnSpPr>
        <p:spPr>
          <a:xfrm flipH="1">
            <a:off x="528320" y="4643120"/>
            <a:ext cx="579120" cy="15240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4955F609-DE7D-E37F-AF03-E1EFAFA1C0C8}"/>
              </a:ext>
            </a:extLst>
          </p:cNvPr>
          <p:cNvSpPr txBox="1"/>
          <p:nvPr/>
        </p:nvSpPr>
        <p:spPr>
          <a:xfrm>
            <a:off x="193040" y="6167120"/>
            <a:ext cx="2773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solidFill>
                  <a:srgbClr val="FF0000"/>
                </a:solidFill>
              </a:rPr>
              <a:t>ตัวกรองแบรนด์ไม่ตรงตามหมวดสินค้า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สี่เหลี่ยมผืนผ้า 12">
            <a:extLst>
              <a:ext uri="{FF2B5EF4-FFF2-40B4-BE49-F238E27FC236}">
                <a16:creationId xmlns:a16="http://schemas.microsoft.com/office/drawing/2014/main" id="{2AD06A8F-870D-7A58-BFC2-9DD7866D4292}"/>
              </a:ext>
            </a:extLst>
          </p:cNvPr>
          <p:cNvSpPr/>
          <p:nvPr/>
        </p:nvSpPr>
        <p:spPr>
          <a:xfrm>
            <a:off x="1005558" y="3418840"/>
            <a:ext cx="1778282" cy="6400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ลูกศรเชื่อมต่อแบบตรง 13">
            <a:extLst>
              <a:ext uri="{FF2B5EF4-FFF2-40B4-BE49-F238E27FC236}">
                <a16:creationId xmlns:a16="http://schemas.microsoft.com/office/drawing/2014/main" id="{5BFA3A64-4D6F-EA0E-0A9B-5886B3A7943F}"/>
              </a:ext>
            </a:extLst>
          </p:cNvPr>
          <p:cNvCxnSpPr>
            <a:cxnSpLocks/>
          </p:cNvCxnSpPr>
          <p:nvPr/>
        </p:nvCxnSpPr>
        <p:spPr>
          <a:xfrm flipH="1">
            <a:off x="1778000" y="558800"/>
            <a:ext cx="2032000" cy="3098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C2D11817-69E0-3248-07D6-9A30C926960A}"/>
              </a:ext>
            </a:extLst>
          </p:cNvPr>
          <p:cNvSpPr txBox="1"/>
          <p:nvPr/>
        </p:nvSpPr>
        <p:spPr>
          <a:xfrm>
            <a:off x="3810000" y="220246"/>
            <a:ext cx="27736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solidFill>
                  <a:srgbClr val="FF0000"/>
                </a:solidFill>
              </a:rPr>
              <a:t>แบรนด์ขึ้นก่อนสีแต่ละหมวด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84F87260-23B3-D4E8-D81D-8561BC4EB439}"/>
              </a:ext>
            </a:extLst>
          </p:cNvPr>
          <p:cNvSpPr/>
          <p:nvPr/>
        </p:nvSpPr>
        <p:spPr>
          <a:xfrm>
            <a:off x="1005558" y="2214880"/>
            <a:ext cx="1778282" cy="5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ลูกศรเชื่อมต่อแบบตรง 17">
            <a:extLst>
              <a:ext uri="{FF2B5EF4-FFF2-40B4-BE49-F238E27FC236}">
                <a16:creationId xmlns:a16="http://schemas.microsoft.com/office/drawing/2014/main" id="{DCD6B7F4-C2B6-383E-EBA1-D50AD0F58865}"/>
              </a:ext>
            </a:extLst>
          </p:cNvPr>
          <p:cNvCxnSpPr>
            <a:cxnSpLocks/>
          </p:cNvCxnSpPr>
          <p:nvPr/>
        </p:nvCxnSpPr>
        <p:spPr>
          <a:xfrm>
            <a:off x="1239520" y="805180"/>
            <a:ext cx="645089" cy="1473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70E46B4D-B448-2F41-91E7-2A49EDF6AEC2}"/>
              </a:ext>
            </a:extLst>
          </p:cNvPr>
          <p:cNvSpPr txBox="1"/>
          <p:nvPr/>
        </p:nvSpPr>
        <p:spPr>
          <a:xfrm>
            <a:off x="497769" y="266412"/>
            <a:ext cx="2773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solidFill>
                  <a:srgbClr val="FF0000"/>
                </a:solidFill>
              </a:rPr>
              <a:t>ตัดข้อนี้ออกเพราะ เราเลือกหมวดอยู่แล้ว</a:t>
            </a:r>
          </a:p>
          <a:p>
            <a:r>
              <a:rPr lang="th-TH" sz="1600" dirty="0">
                <a:solidFill>
                  <a:srgbClr val="FF0000"/>
                </a:solidFill>
              </a:rPr>
              <a:t>อาจจะเปลี่ยนเป็นตัวกรอง เฉยๆ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9127FA1-9A4E-1B80-8F8A-7963D204B2D6}"/>
              </a:ext>
            </a:extLst>
          </p:cNvPr>
          <p:cNvSpPr txBox="1"/>
          <p:nvPr/>
        </p:nvSpPr>
        <p:spPr>
          <a:xfrm>
            <a:off x="9916795" y="158689"/>
            <a:ext cx="2408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u="sng" dirty="0">
                <a:latin typeface="Prompt Medium" panose="00000600000000000000" pitchFamily="2" charset="-34"/>
                <a:cs typeface="Prompt Medium" panose="00000600000000000000" pitchFamily="2" charset="-34"/>
              </a:rPr>
              <a:t>ปรับแก้ไขตัวกรอง</a:t>
            </a:r>
            <a:endParaRPr lang="en-US" sz="2000" u="sng" dirty="0">
              <a:latin typeface="Prompt Medium" panose="00000600000000000000" pitchFamily="2" charset="-34"/>
              <a:cs typeface="Prompt Medium" panose="00000600000000000000" pitchFamily="2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163C9C3-9D9A-34C6-F1FC-EBF40DCAFD21}"/>
              </a:ext>
            </a:extLst>
          </p:cNvPr>
          <p:cNvSpPr txBox="1"/>
          <p:nvPr/>
        </p:nvSpPr>
        <p:spPr>
          <a:xfrm>
            <a:off x="11615057" y="6396335"/>
            <a:ext cx="576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Prompt Medium" panose="00000600000000000000" pitchFamily="2" charset="-34"/>
                <a:cs typeface="Prompt Medium" panose="00000600000000000000" pitchFamily="2" charset="-34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982054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5FD3CA9C-313D-2EC2-5CF0-D3AAEECF7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108" y="962025"/>
            <a:ext cx="9622367" cy="5412581"/>
          </a:xfrm>
          <a:prstGeom prst="rect">
            <a:avLst/>
          </a:prstGeom>
        </p:spPr>
      </p:pic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D3EFFA62-93CE-BC5E-0063-D5BADCB1DFFD}"/>
              </a:ext>
            </a:extLst>
          </p:cNvPr>
          <p:cNvSpPr/>
          <p:nvPr/>
        </p:nvSpPr>
        <p:spPr>
          <a:xfrm>
            <a:off x="1417108" y="2495550"/>
            <a:ext cx="1940560" cy="1323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56171261-A8F9-7852-6061-8D9721510C1A}"/>
              </a:ext>
            </a:extLst>
          </p:cNvPr>
          <p:cNvSpPr txBox="1"/>
          <p:nvPr/>
        </p:nvSpPr>
        <p:spPr>
          <a:xfrm>
            <a:off x="9916795" y="158689"/>
            <a:ext cx="2408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u="sng" dirty="0">
                <a:latin typeface="Prompt Medium" panose="00000600000000000000" pitchFamily="2" charset="-34"/>
                <a:cs typeface="Prompt Medium" panose="00000600000000000000" pitchFamily="2" charset="-34"/>
              </a:rPr>
              <a:t>ปรับแก้ไขตัวกรอง</a:t>
            </a:r>
            <a:endParaRPr lang="en-US" sz="2000" u="sng" dirty="0">
              <a:latin typeface="Prompt Medium" panose="00000600000000000000" pitchFamily="2" charset="-34"/>
              <a:cs typeface="Prompt Medium" panose="00000600000000000000" pitchFamily="2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78D36EB-14DD-851A-04E7-95FCA02FD2CE}"/>
              </a:ext>
            </a:extLst>
          </p:cNvPr>
          <p:cNvSpPr txBox="1"/>
          <p:nvPr/>
        </p:nvSpPr>
        <p:spPr>
          <a:xfrm>
            <a:off x="340783" y="97134"/>
            <a:ext cx="3016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u="sng" dirty="0">
                <a:solidFill>
                  <a:srgbClr val="FF0000"/>
                </a:solidFill>
              </a:rPr>
              <a:t>ตัวอย่างของตัวกรอง</a:t>
            </a:r>
            <a:endParaRPr lang="en-US" sz="2800" b="1" u="sng" dirty="0">
              <a:solidFill>
                <a:srgbClr val="FF0000"/>
              </a:solidFill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ADA39AB8-EE17-066F-6703-F601B03ADFAE}"/>
              </a:ext>
            </a:extLst>
          </p:cNvPr>
          <p:cNvSpPr txBox="1"/>
          <p:nvPr/>
        </p:nvSpPr>
        <p:spPr>
          <a:xfrm>
            <a:off x="2564764" y="559998"/>
            <a:ext cx="4505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th-TH" sz="2000" dirty="0">
                <a:solidFill>
                  <a:srgbClr val="FF0000"/>
                </a:solidFill>
              </a:rPr>
              <a:t>อยากให้ขึ้นแค่แบรนด์แต่ละหมวดสินค้าเท่านั้น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7C017D45-34DA-EA28-4971-499EB7534429}"/>
              </a:ext>
            </a:extLst>
          </p:cNvPr>
          <p:cNvSpPr txBox="1"/>
          <p:nvPr/>
        </p:nvSpPr>
        <p:spPr>
          <a:xfrm>
            <a:off x="11615057" y="6396335"/>
            <a:ext cx="576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Prompt Medium" panose="00000600000000000000" pitchFamily="2" charset="-34"/>
                <a:cs typeface="Prompt Medium" panose="00000600000000000000" pitchFamily="2" charset="-34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92087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7DA60D06-86EB-2230-D00B-31897169E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6" y="1516968"/>
            <a:ext cx="5146674" cy="2490736"/>
          </a:xfrm>
          <a:prstGeom prst="rect">
            <a:avLst/>
          </a:prstGeom>
        </p:spPr>
      </p:pic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E1C61D3-D3CA-62E9-5815-44F56869825B}"/>
              </a:ext>
            </a:extLst>
          </p:cNvPr>
          <p:cNvSpPr/>
          <p:nvPr/>
        </p:nvSpPr>
        <p:spPr>
          <a:xfrm>
            <a:off x="742951" y="1990725"/>
            <a:ext cx="5353049" cy="15620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F237FE13-5FB2-8372-0F2F-CC6761E091D8}"/>
              </a:ext>
            </a:extLst>
          </p:cNvPr>
          <p:cNvSpPr txBox="1"/>
          <p:nvPr/>
        </p:nvSpPr>
        <p:spPr>
          <a:xfrm>
            <a:off x="6624319" y="2867025"/>
            <a:ext cx="30626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>
                <a:solidFill>
                  <a:srgbClr val="FF0000"/>
                </a:solidFill>
              </a:rPr>
              <a:t>ส่วนนี้สามารถคลิกได้ไหมหรือแค่เป็นการแจ้งเตือนว่าอยู่หมวดนี้เฉยๆ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F34C0EA6-CC71-35A2-C36A-2743E1826944}"/>
              </a:ext>
            </a:extLst>
          </p:cNvPr>
          <p:cNvSpPr txBox="1"/>
          <p:nvPr/>
        </p:nvSpPr>
        <p:spPr>
          <a:xfrm>
            <a:off x="11615057" y="6396335"/>
            <a:ext cx="576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Prompt Medium" panose="00000600000000000000" pitchFamily="2" charset="-34"/>
                <a:cs typeface="Prompt Medium" panose="00000600000000000000" pitchFamily="2" charset="-34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67313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9297A647-72F8-3A26-F191-D88F07997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175"/>
            <a:ext cx="7941724" cy="5210175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0EC8F791-A75D-5CE2-4432-1390885041F6}"/>
              </a:ext>
            </a:extLst>
          </p:cNvPr>
          <p:cNvSpPr txBox="1"/>
          <p:nvPr/>
        </p:nvSpPr>
        <p:spPr>
          <a:xfrm>
            <a:off x="8272144" y="2657475"/>
            <a:ext cx="3062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>
                <a:solidFill>
                  <a:srgbClr val="FF0000"/>
                </a:solidFill>
              </a:rPr>
              <a:t>ค่าจัดส่งสามารถปรับแก้ไขได้ไหม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3" name="ตัวเชื่อมต่อตรง 2">
            <a:extLst>
              <a:ext uri="{FF2B5EF4-FFF2-40B4-BE49-F238E27FC236}">
                <a16:creationId xmlns:a16="http://schemas.microsoft.com/office/drawing/2014/main" id="{E4C746C1-C7D8-0151-1634-67CF59D6120E}"/>
              </a:ext>
            </a:extLst>
          </p:cNvPr>
          <p:cNvCxnSpPr/>
          <p:nvPr/>
        </p:nvCxnSpPr>
        <p:spPr>
          <a:xfrm>
            <a:off x="6838950" y="2895600"/>
            <a:ext cx="58102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A1CACA1-40C7-D2DD-301C-EB50544DCC9A}"/>
              </a:ext>
            </a:extLst>
          </p:cNvPr>
          <p:cNvSpPr txBox="1"/>
          <p:nvPr/>
        </p:nvSpPr>
        <p:spPr>
          <a:xfrm>
            <a:off x="11615057" y="6396335"/>
            <a:ext cx="576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Prompt Medium" panose="00000600000000000000" pitchFamily="2" charset="-34"/>
                <a:cs typeface="Prompt Medium" panose="00000600000000000000" pitchFamily="2" charset="-34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75885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F4A6D6C7-8DA3-3105-645F-DD6271DEA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80" y="877253"/>
            <a:ext cx="9072880" cy="5103494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DBD48824-BF88-32FF-A91E-AA267F59F98D}"/>
              </a:ext>
            </a:extLst>
          </p:cNvPr>
          <p:cNvSpPr/>
          <p:nvPr/>
        </p:nvSpPr>
        <p:spPr>
          <a:xfrm>
            <a:off x="1554480" y="2921000"/>
            <a:ext cx="365760" cy="5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5863FCA9-B242-2596-35EC-C8ADE09E8962}"/>
              </a:ext>
            </a:extLst>
          </p:cNvPr>
          <p:cNvSpPr txBox="1"/>
          <p:nvPr/>
        </p:nvSpPr>
        <p:spPr>
          <a:xfrm>
            <a:off x="2517140" y="2746643"/>
            <a:ext cx="2607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solidFill>
                  <a:srgbClr val="FF0000"/>
                </a:solidFill>
              </a:rPr>
              <a:t>ปรับให้รวมกันเลยได้ไหม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1DB9E4EF-E9CC-C459-46FF-710645CB0C98}"/>
              </a:ext>
            </a:extLst>
          </p:cNvPr>
          <p:cNvSpPr/>
          <p:nvPr/>
        </p:nvSpPr>
        <p:spPr>
          <a:xfrm>
            <a:off x="6598920" y="2921000"/>
            <a:ext cx="365760" cy="5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CB90B448-F3F0-4682-0BA9-F26DACA079E2}"/>
              </a:ext>
            </a:extLst>
          </p:cNvPr>
          <p:cNvSpPr txBox="1"/>
          <p:nvPr/>
        </p:nvSpPr>
        <p:spPr>
          <a:xfrm>
            <a:off x="6096000" y="2345168"/>
            <a:ext cx="23596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dirty="0">
                <a:solidFill>
                  <a:srgbClr val="FF0000"/>
                </a:solidFill>
              </a:rPr>
              <a:t>ทำเป็นหน้าเดียวเหมือนตัวอย่างได้ไหม</a:t>
            </a:r>
            <a:endParaRPr lang="en-US" sz="1600" dirty="0">
              <a:solidFill>
                <a:srgbClr val="FF0000"/>
              </a:solidFill>
            </a:endParaRPr>
          </a:p>
        </p:txBody>
      </p:sp>
      <p:cxnSp>
        <p:nvCxnSpPr>
          <p:cNvPr id="2" name="ลูกศรเชื่อมต่อแบบตรง 1">
            <a:extLst>
              <a:ext uri="{FF2B5EF4-FFF2-40B4-BE49-F238E27FC236}">
                <a16:creationId xmlns:a16="http://schemas.microsoft.com/office/drawing/2014/main" id="{24D54DC3-E703-B3C9-843A-0803D6FD91A8}"/>
              </a:ext>
            </a:extLst>
          </p:cNvPr>
          <p:cNvCxnSpPr>
            <a:cxnSpLocks/>
          </p:cNvCxnSpPr>
          <p:nvPr/>
        </p:nvCxnSpPr>
        <p:spPr>
          <a:xfrm flipH="1">
            <a:off x="2087880" y="3076311"/>
            <a:ext cx="584835" cy="1973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ลูกศรเชื่อมต่อแบบตรง 3">
            <a:extLst>
              <a:ext uri="{FF2B5EF4-FFF2-40B4-BE49-F238E27FC236}">
                <a16:creationId xmlns:a16="http://schemas.microsoft.com/office/drawing/2014/main" id="{F0BB9C21-E747-1BB6-9553-5128DE62228A}"/>
              </a:ext>
            </a:extLst>
          </p:cNvPr>
          <p:cNvCxnSpPr>
            <a:cxnSpLocks/>
          </p:cNvCxnSpPr>
          <p:nvPr/>
        </p:nvCxnSpPr>
        <p:spPr>
          <a:xfrm>
            <a:off x="6284595" y="2678270"/>
            <a:ext cx="251777" cy="39804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2CBFAAE-B5C0-D784-4459-FFD4C1FF5A04}"/>
              </a:ext>
            </a:extLst>
          </p:cNvPr>
          <p:cNvSpPr txBox="1"/>
          <p:nvPr/>
        </p:nvSpPr>
        <p:spPr>
          <a:xfrm>
            <a:off x="11615057" y="6396335"/>
            <a:ext cx="576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Prompt Medium" panose="00000600000000000000" pitchFamily="2" charset="-34"/>
                <a:cs typeface="Prompt Medium" panose="00000600000000000000" pitchFamily="2" charset="-34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062896999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234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Prompt Medium</vt:lpstr>
      <vt:lpstr>Prompt SemiBold</vt:lpstr>
      <vt:lpstr>ธีมของ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วราเมธ องอาจ</dc:creator>
  <cp:lastModifiedBy>netthakan Orrnorm</cp:lastModifiedBy>
  <cp:revision>2</cp:revision>
  <dcterms:created xsi:type="dcterms:W3CDTF">2023-02-22T08:39:32Z</dcterms:created>
  <dcterms:modified xsi:type="dcterms:W3CDTF">2023-02-23T04:04:51Z</dcterms:modified>
</cp:coreProperties>
</file>